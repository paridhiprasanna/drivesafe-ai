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264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ADAS Market (US$ Bn)</c:v>
                </c:pt>
              </c:strCache>
            </c:strRef>
          </c:tx>
          <c:spPr>
            <a:ln w="38100" cap="flat">
              <a:solidFill>
                <a:srgbClr val="1C729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6232F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2026E</c:v>
                </c:pt>
                <c:pt idx="5">
                  <c:v>2027E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27</c:v>
                </c:pt>
                <c:pt idx="1">
                  <c:v>33</c:v>
                </c:pt>
                <c:pt idx="2">
                  <c:v>40</c:v>
                </c:pt>
                <c:pt idx="3">
                  <c:v>49</c:v>
                </c:pt>
                <c:pt idx="4">
                  <c:v>59</c:v>
                </c:pt>
                <c:pt idx="5">
                  <c:v>71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6A5B-4797-AC7B-FE3435CAB696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8445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9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6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486400" cy="5486400"/>
          </a:xfrm>
          <a:prstGeom prst="ellipse">
            <a:avLst/>
          </a:prstGeom>
          <a:solidFill>
            <a:srgbClr val="132C48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-365760"/>
            <a:ext cx="2926080" cy="292608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237744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DriveSafe AI</a:t>
            </a:r>
            <a:endParaRPr lang="en-US" sz="5800" dirty="0"/>
          </a:p>
        </p:txBody>
      </p:sp>
      <p:sp>
        <p:nvSpPr>
          <p:cNvPr id="8" name="Text 5"/>
          <p:cNvSpPr/>
          <p:nvPr/>
        </p:nvSpPr>
        <p:spPr>
          <a:xfrm>
            <a:off x="640080" y="34290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F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Real-Time, Privacy-Preserving Driver Monitoring at the Edge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40080" y="4297680"/>
            <a:ext cx="5669280" cy="0"/>
          </a:xfrm>
          <a:prstGeom prst="line">
            <a:avLst/>
          </a:prstGeom>
          <a:noFill/>
          <a:ln w="12700">
            <a:solidFill>
              <a:srgbClr val="2C4A6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452628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 :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Paridhi Prasanna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Matham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Amolika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Yarlagadda Mahathi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035040" y="477111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err="1">
                <a:solidFill>
                  <a:srgbClr val="6F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C.R.Rao</a:t>
            </a:r>
            <a:r>
              <a:rPr lang="en-US" sz="1400" b="1" dirty="0">
                <a:solidFill>
                  <a:srgbClr val="6F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Advanced Institute of Mathematics, Statistics and Computer Science (AIMSCS)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035040" y="51878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DRIVESAFE AI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696A076-1333-6787-C991-D6821E3D34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65698"/>
            <a:ext cx="1853310" cy="17032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18"/>
          <p:cNvSpPr/>
          <p:nvPr/>
        </p:nvSpPr>
        <p:spPr>
          <a:xfrm>
            <a:off x="393192" y="391885"/>
            <a:ext cx="10881360" cy="1965960"/>
          </a:xfrm>
          <a:prstGeom prst="roundRect">
            <a:avLst>
              <a:gd name="adj" fmla="val 3721"/>
            </a:avLst>
          </a:prstGeom>
          <a:solidFill>
            <a:srgbClr val="0B1E33"/>
          </a:solidFill>
          <a:ln/>
          <a:effectLst>
            <a:outerShdw blurRad="101600" dist="38100" dir="5400000" algn="bl" rotWithShape="0">
              <a:srgbClr val="0B1E33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87829" y="71799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560" y="851721"/>
            <a:ext cx="326898" cy="32689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45920" y="64941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FE3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Motivation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1645920" y="851721"/>
            <a:ext cx="9418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4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year, thousands of lives are lost to drowsy and distracted driving — a risk that is almost entirely preventable. We wanted to build a solution that works in real time, runs on affordable edge hardware, and protects driver privacy by processing everything on-device, without ever streaming footage to the cloud.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TEAM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8B9E9FF-E9EF-E5C9-2372-D032ED122AD9}"/>
              </a:ext>
            </a:extLst>
          </p:cNvPr>
          <p:cNvSpPr txBox="1"/>
          <p:nvPr/>
        </p:nvSpPr>
        <p:spPr>
          <a:xfrm>
            <a:off x="457200" y="2612571"/>
            <a:ext cx="1081735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Why This Project?</a:t>
            </a:r>
          </a:p>
          <a:p>
            <a:r>
              <a:rPr lang="en-IN" dirty="0"/>
              <a:t>Driver fatigue and distraction are among the leading causes of preventable road accidents worldwide.</a:t>
            </a:r>
          </a:p>
          <a:p>
            <a:r>
              <a:rPr lang="en-IN" dirty="0"/>
              <a:t>Most advanced Driver Monitoring Systems (DMS) are integrated only into premium vehicles, making them inaccessible for many drivers.</a:t>
            </a:r>
          </a:p>
          <a:p>
            <a:r>
              <a:rPr lang="en-IN" dirty="0"/>
              <a:t>Existing cloud-based solutions may raise privacy concerns and require continuous internet connectivity.</a:t>
            </a:r>
          </a:p>
          <a:p>
            <a:r>
              <a:rPr lang="en-IN" dirty="0"/>
              <a:t>There is a growing need for an affordable, real-time, and privacy-preserving driver safety solution that can run directly on edge devices.</a:t>
            </a:r>
          </a:p>
          <a:p>
            <a:endParaRPr lang="en-IN" dirty="0"/>
          </a:p>
          <a:p>
            <a:r>
              <a:rPr lang="en-IN" b="1" dirty="0"/>
              <a:t>Vision</a:t>
            </a:r>
          </a:p>
          <a:p>
            <a:r>
              <a:rPr lang="en-IN" dirty="0"/>
              <a:t>To make intelligent driver safety technology affordable, accessible, and privacy-focused for every vehicle through real-time Edge AI.</a:t>
            </a:r>
          </a:p>
          <a:p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Driver Fatigue Is a Silent Killer on Our Roads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E33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92024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5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1.35M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278892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deaths worldwide every year (WHO)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9120" y="173736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E33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0" y="192024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5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572000" y="278892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accidents linked to driver fatigue or drowsiness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0" y="173736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E33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12480" y="192024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5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8412480" y="278892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Highway crashes tied to lapses in driver attention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11201400" cy="2286000"/>
          </a:xfrm>
          <a:prstGeom prst="roundRect">
            <a:avLst>
              <a:gd name="adj" fmla="val 3200"/>
            </a:avLst>
          </a:prstGeom>
          <a:solidFill>
            <a:srgbClr val="132C48"/>
          </a:solidFill>
          <a:ln/>
          <a:effectLst>
            <a:outerShdw blurRad="101600" dist="38100" dir="5400000" algn="bl" rotWithShape="0">
              <a:srgbClr val="0B1E33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41148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698" y="4258818"/>
            <a:ext cx="352044" cy="35204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691640" y="40965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Edge AI, and Why Now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1691640" y="4526280"/>
            <a:ext cx="9509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C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monitoring introduces latency that is unacceptable for split-second safety alerts.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C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driver video to servers raises serious privacy concerns for everyday users.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C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edge hardware (Jetson, Raspberry Pi) now makes on-device computer vision affordable and fast.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Fast-Growing ADAS Market, Ready for Edge AI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03504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E33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74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ADAS Market Growth (Illustrative)</a:t>
            </a:r>
            <a:endParaRPr lang="en-US" sz="12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685800" y="2286000"/>
          <a:ext cx="57607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858000" y="1691640"/>
            <a:ext cx="48006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E33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086600" y="1947672"/>
            <a:ext cx="594360" cy="594360"/>
          </a:xfrm>
          <a:prstGeom prst="ellipse">
            <a:avLst/>
          </a:prstGeom>
          <a:solidFill>
            <a:srgbClr val="E9F2F6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0331" y="2081403"/>
            <a:ext cx="326898" cy="32689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818120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Relevance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7086600" y="2560320"/>
            <a:ext cx="4343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Automakers &amp; Tier-1 suppliers are mandating driver-monitoring systems (DMS) to meet upcoming safety regulations (Euro NCAP, etc.).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858000" y="3977640"/>
            <a:ext cx="48006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E33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086600" y="4233672"/>
            <a:ext cx="594360" cy="594360"/>
          </a:xfrm>
          <a:prstGeom prst="ellipse">
            <a:avLst/>
          </a:prstGeom>
          <a:solidFill>
            <a:srgbClr val="E9F2F6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0331" y="4367403"/>
            <a:ext cx="326898" cy="32689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818120" y="4206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Now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7086600" y="4846320"/>
            <a:ext cx="4343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Falling cost of edge compute + mature open-source CV libraries make a production-grade DMS achievable for a student team, not just OEMs.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E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57400"/>
            <a:ext cx="777240" cy="777240"/>
          </a:xfrm>
          <a:prstGeom prst="ellipse">
            <a:avLst/>
          </a:prstGeom>
          <a:solidFill>
            <a:srgbClr val="E9F2F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559" y="2232279"/>
            <a:ext cx="427482" cy="4274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193852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Driver Monitoring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852160" y="1938528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track eye state, head pose, and attention using a standard camera feed at real-time frame rates.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333756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E33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8680" y="3657600"/>
            <a:ext cx="777240" cy="777240"/>
          </a:xfrm>
          <a:prstGeom prst="ellipse">
            <a:avLst/>
          </a:prstGeom>
          <a:solidFill>
            <a:srgbClr val="E9F2F6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559" y="3832479"/>
            <a:ext cx="427482" cy="42748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920240" y="353872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 Accidents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852160" y="3538728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drowsiness, distraction, and fatigue early enough to issue alerts before a critical lapse occurs.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493776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E33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5257800"/>
            <a:ext cx="777240" cy="777240"/>
          </a:xfrm>
          <a:prstGeom prst="ellipse">
            <a:avLst/>
          </a:prstGeom>
          <a:solidFill>
            <a:srgbClr val="E9F2F6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3559" y="5432679"/>
            <a:ext cx="427482" cy="42748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20240" y="513892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Privacy-Preserving Edge AI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5852160" y="5138928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all video entirely on-device — no footage ever leaves the vehicle or is stored in the cloud.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Overview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five-stage real-time pipeline turns a camera feed into a spoken safety alert.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1874520" cy="201168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E33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7280" y="2697480"/>
            <a:ext cx="777240" cy="777240"/>
          </a:xfrm>
          <a:prstGeom prst="ellipse">
            <a:avLst/>
          </a:prstGeom>
          <a:solidFill>
            <a:srgbClr val="E9F2F6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2159" y="2872359"/>
            <a:ext cx="427482" cy="42748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7033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Camera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85800" y="2450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499284" y="3218688"/>
            <a:ext cx="270662" cy="320040"/>
          </a:xfrm>
          <a:prstGeom prst="rightArrow">
            <a:avLst/>
          </a:prstGeom>
          <a:solidFill>
            <a:srgbClr val="C9DCE6"/>
          </a:solidFill>
          <a:ln/>
        </p:spPr>
      </p:sp>
      <p:sp>
        <p:nvSpPr>
          <p:cNvPr id="11" name="Shape 8"/>
          <p:cNvSpPr/>
          <p:nvPr/>
        </p:nvSpPr>
        <p:spPr>
          <a:xfrm>
            <a:off x="2846070" y="2377440"/>
            <a:ext cx="1874520" cy="201168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E33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94710" y="2697480"/>
            <a:ext cx="777240" cy="777240"/>
          </a:xfrm>
          <a:prstGeom prst="ellipse">
            <a:avLst/>
          </a:prstGeom>
          <a:solidFill>
            <a:srgbClr val="E9F2F6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9589" y="2872359"/>
            <a:ext cx="427482" cy="42748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937510" y="37033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Analysis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2983230" y="2450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796714" y="3218688"/>
            <a:ext cx="270662" cy="320040"/>
          </a:xfrm>
          <a:prstGeom prst="rightArrow">
            <a:avLst/>
          </a:prstGeom>
          <a:solidFill>
            <a:srgbClr val="C9DCE6"/>
          </a:solidFill>
          <a:ln/>
        </p:spPr>
      </p:sp>
      <p:sp>
        <p:nvSpPr>
          <p:cNvPr id="17" name="Shape 13"/>
          <p:cNvSpPr/>
          <p:nvPr/>
        </p:nvSpPr>
        <p:spPr>
          <a:xfrm>
            <a:off x="5143500" y="2377440"/>
            <a:ext cx="1874520" cy="201168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E33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692140" y="2697480"/>
            <a:ext cx="777240" cy="777240"/>
          </a:xfrm>
          <a:prstGeom prst="ellipse">
            <a:avLst/>
          </a:prstGeom>
          <a:solidFill>
            <a:srgbClr val="E9F2F6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7019" y="2872359"/>
            <a:ext cx="427482" cy="42748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234940" y="37033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Score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5280660" y="2450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7094144" y="3218688"/>
            <a:ext cx="270662" cy="320040"/>
          </a:xfrm>
          <a:prstGeom prst="rightArrow">
            <a:avLst/>
          </a:prstGeom>
          <a:solidFill>
            <a:srgbClr val="C9DCE6"/>
          </a:solidFill>
          <a:ln/>
        </p:spPr>
      </p:sp>
      <p:sp>
        <p:nvSpPr>
          <p:cNvPr id="23" name="Shape 18"/>
          <p:cNvSpPr/>
          <p:nvPr/>
        </p:nvSpPr>
        <p:spPr>
          <a:xfrm>
            <a:off x="7440930" y="2377440"/>
            <a:ext cx="1874520" cy="201168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E33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7989570" y="2697480"/>
            <a:ext cx="777240" cy="777240"/>
          </a:xfrm>
          <a:prstGeom prst="ellipse">
            <a:avLst/>
          </a:prstGeom>
          <a:solidFill>
            <a:srgbClr val="E9F2F6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4449" y="2872359"/>
            <a:ext cx="427482" cy="42748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532370" y="37033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7578090" y="2450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9391574" y="3218688"/>
            <a:ext cx="270662" cy="320040"/>
          </a:xfrm>
          <a:prstGeom prst="rightArrow">
            <a:avLst/>
          </a:prstGeom>
          <a:solidFill>
            <a:srgbClr val="C9DCE6"/>
          </a:solidFill>
          <a:ln/>
        </p:spPr>
      </p:sp>
      <p:sp>
        <p:nvSpPr>
          <p:cNvPr id="29" name="Shape 23"/>
          <p:cNvSpPr/>
          <p:nvPr/>
        </p:nvSpPr>
        <p:spPr>
          <a:xfrm>
            <a:off x="9738360" y="2377440"/>
            <a:ext cx="1874520" cy="201168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E33">
                <a:alpha val="12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10287000" y="2697480"/>
            <a:ext cx="777240" cy="777240"/>
          </a:xfrm>
          <a:prstGeom prst="ellipse">
            <a:avLst/>
          </a:prstGeom>
          <a:solidFill>
            <a:srgbClr val="FFE7E0"/>
          </a:solidFill>
          <a:ln/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61879" y="2872359"/>
            <a:ext cx="427482" cy="42748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829800" y="37033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Alarm</a:t>
            </a:r>
            <a:endParaRPr lang="en-US" sz="1350" dirty="0"/>
          </a:p>
        </p:txBody>
      </p:sp>
      <p:sp>
        <p:nvSpPr>
          <p:cNvPr id="33" name="Text 26"/>
          <p:cNvSpPr/>
          <p:nvPr/>
        </p:nvSpPr>
        <p:spPr>
          <a:xfrm>
            <a:off x="9875520" y="2450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548640" y="47091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camera captures a continuous live feed of the driver's face.     •     OpenCV &amp; MediaPipe extract facial landmarks, eye and mouth state, head pose.     •     A weighted model converts signals into a single, continuously-updated risk score.     •     Streamlit dashboard visualizes live status, trends, and alert history.     •     An audio alarm triggers instantly when risk crosses a safe threshold.</a:t>
            </a:r>
            <a:endParaRPr lang="en-US" sz="1050" dirty="0"/>
          </a:p>
        </p:txBody>
      </p:sp>
      <p:sp>
        <p:nvSpPr>
          <p:cNvPr id="35" name="Text 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BUILT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E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05940"/>
            <a:ext cx="640080" cy="640080"/>
          </a:xfrm>
          <a:prstGeom prst="ellipse">
            <a:avLst/>
          </a:prstGeom>
          <a:solidFill>
            <a:srgbClr val="E9F2F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978" y="1949958"/>
            <a:ext cx="352044" cy="3520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72821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Layer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691640" y="205740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Camera Feed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1051560" y="2670048"/>
            <a:ext cx="274320" cy="219456"/>
          </a:xfrm>
          <a:prstGeom prst="downArrow">
            <a:avLst/>
          </a:prstGeom>
          <a:solidFill>
            <a:srgbClr val="C9DCE6"/>
          </a:solidFill>
          <a:ln/>
        </p:spPr>
      </p:sp>
      <p:sp>
        <p:nvSpPr>
          <p:cNvPr id="10" name="Shape 7"/>
          <p:cNvSpPr/>
          <p:nvPr/>
        </p:nvSpPr>
        <p:spPr>
          <a:xfrm>
            <a:off x="548640" y="2907792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E33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22960" y="3113532"/>
            <a:ext cx="640080" cy="640080"/>
          </a:xfrm>
          <a:prstGeom prst="ellipse">
            <a:avLst/>
          </a:prstGeom>
          <a:solidFill>
            <a:srgbClr val="E9F2F6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978" y="3257550"/>
            <a:ext cx="352044" cy="3520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91640" y="30358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Layer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1691640" y="3364992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OpenCV + MediaPipe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(Face &amp; Landmark Detection)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1051560" y="3977640"/>
            <a:ext cx="274320" cy="219456"/>
          </a:xfrm>
          <a:prstGeom prst="downArrow">
            <a:avLst/>
          </a:prstGeom>
          <a:solidFill>
            <a:srgbClr val="C9DCE6"/>
          </a:solidFill>
          <a:ln/>
        </p:spPr>
      </p:sp>
      <p:sp>
        <p:nvSpPr>
          <p:cNvPr id="16" name="Shape 12"/>
          <p:cNvSpPr/>
          <p:nvPr/>
        </p:nvSpPr>
        <p:spPr>
          <a:xfrm>
            <a:off x="548640" y="4215384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E33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2960" y="4421124"/>
            <a:ext cx="640080" cy="640080"/>
          </a:xfrm>
          <a:prstGeom prst="ellipse">
            <a:avLst/>
          </a:prstGeom>
          <a:solidFill>
            <a:srgbClr val="FFF1E8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978" y="4565142"/>
            <a:ext cx="352044" cy="3520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91640" y="4343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Layer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1691640" y="4672584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Scoring Engine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1051560" y="5285232"/>
            <a:ext cx="274320" cy="219456"/>
          </a:xfrm>
          <a:prstGeom prst="downArrow">
            <a:avLst/>
          </a:prstGeom>
          <a:solidFill>
            <a:srgbClr val="C9DCE6"/>
          </a:solidFill>
          <a:ln/>
        </p:spPr>
      </p:sp>
      <p:sp>
        <p:nvSpPr>
          <p:cNvPr id="22" name="Shape 17"/>
          <p:cNvSpPr/>
          <p:nvPr/>
        </p:nvSpPr>
        <p:spPr>
          <a:xfrm>
            <a:off x="548640" y="5522976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E33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22960" y="5728716"/>
            <a:ext cx="640080" cy="640080"/>
          </a:xfrm>
          <a:prstGeom prst="ellipse">
            <a:avLst/>
          </a:prstGeom>
          <a:solidFill>
            <a:srgbClr val="E9F2F6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6978" y="5872734"/>
            <a:ext cx="352044" cy="35204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691640" y="56509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Layer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1691640" y="598017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 Dashboard + SQLite Log + Audio Alarm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Implementation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E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11680"/>
            <a:ext cx="640080" cy="640080"/>
          </a:xfrm>
          <a:prstGeom prst="ellipse">
            <a:avLst/>
          </a:prstGeom>
          <a:solidFill>
            <a:srgbClr val="E9F2F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258" y="2155698"/>
            <a:ext cx="352044" cy="3520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7432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OpenCV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309067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video capture &amp; image processing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43400" y="17373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E33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0" y="2011680"/>
            <a:ext cx="640080" cy="640080"/>
          </a:xfrm>
          <a:prstGeom prst="ellipse">
            <a:avLst/>
          </a:prstGeom>
          <a:solidFill>
            <a:srgbClr val="E9F2F6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6018" y="2155698"/>
            <a:ext cx="352044" cy="3520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27432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MediaPipe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72000" y="309067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landmark &amp; head-pose detection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38160" y="17373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E33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66760" y="2011680"/>
            <a:ext cx="640080" cy="640080"/>
          </a:xfrm>
          <a:prstGeom prst="ellipse">
            <a:avLst/>
          </a:prstGeom>
          <a:solidFill>
            <a:srgbClr val="E9F2F6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0778" y="2155698"/>
            <a:ext cx="352044" cy="3520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66760" y="27432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66760" y="309067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live monitoring dashboard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977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E33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4251960"/>
            <a:ext cx="640080" cy="640080"/>
          </a:xfrm>
          <a:prstGeom prst="ellipse">
            <a:avLst/>
          </a:prstGeom>
          <a:solidFill>
            <a:srgbClr val="E9F2F6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1258" y="4395978"/>
            <a:ext cx="352044" cy="3520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49834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77240" y="533095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local storage for alert history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43400" y="3977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E33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72000" y="4251960"/>
            <a:ext cx="640080" cy="640080"/>
          </a:xfrm>
          <a:prstGeom prst="ellipse">
            <a:avLst/>
          </a:prstGeom>
          <a:solidFill>
            <a:srgbClr val="E9F2F6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6018" y="4395978"/>
            <a:ext cx="352044" cy="3520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2000" y="49834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Plotly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572000" y="533095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analytics &amp; trend visualizations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38160" y="3977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E33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66760" y="4251960"/>
            <a:ext cx="640080" cy="640080"/>
          </a:xfrm>
          <a:prstGeom prst="ellipse">
            <a:avLst/>
          </a:prstGeom>
          <a:solidFill>
            <a:srgbClr val="E9F2F6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10778" y="4395978"/>
            <a:ext cx="352044" cy="35204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66760" y="49834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366760" y="533095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 tying the full pipeline together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IMPLEMENTATION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E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11680"/>
            <a:ext cx="640080" cy="640080"/>
          </a:xfrm>
          <a:prstGeom prst="ellipse">
            <a:avLst/>
          </a:prstGeom>
          <a:solidFill>
            <a:srgbClr val="FFF1E8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258" y="2155698"/>
            <a:ext cx="352044" cy="3520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7432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Eye Closure Detection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77240" y="309067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eye-aspect-ratio (EAR) to flag prolonged closure.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343400" y="17373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E33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0" y="2011680"/>
            <a:ext cx="640080" cy="640080"/>
          </a:xfrm>
          <a:prstGeom prst="ellipse">
            <a:avLst/>
          </a:prstGeom>
          <a:solidFill>
            <a:srgbClr val="FFF1E8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6018" y="2155698"/>
            <a:ext cx="352044" cy="3520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27432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Yawning Detection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2000" y="309067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mouth-aspect-ratio to catch signs of fatigue.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8138160" y="17373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E33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66760" y="2011680"/>
            <a:ext cx="640080" cy="640080"/>
          </a:xfrm>
          <a:prstGeom prst="ellipse">
            <a:avLst/>
          </a:prstGeom>
          <a:solidFill>
            <a:srgbClr val="FFF1E8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0778" y="2155698"/>
            <a:ext cx="352044" cy="3520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66760" y="27432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 Pose Estimation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66760" y="309067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head tilt/drop indicating drowsiness or nodding off.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548640" y="3977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E33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4251960"/>
            <a:ext cx="640080" cy="640080"/>
          </a:xfrm>
          <a:prstGeom prst="ellipse">
            <a:avLst/>
          </a:prstGeom>
          <a:solidFill>
            <a:srgbClr val="FFF1E8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1258" y="4395978"/>
            <a:ext cx="352044" cy="3520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49834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Distraction Detection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77240" y="533095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prolonged gaze away from the road ahead.</a:t>
            </a:r>
            <a:endParaRPr lang="en-US" sz="1080" dirty="0"/>
          </a:p>
        </p:txBody>
      </p:sp>
      <p:sp>
        <p:nvSpPr>
          <p:cNvPr id="24" name="Shape 18"/>
          <p:cNvSpPr/>
          <p:nvPr/>
        </p:nvSpPr>
        <p:spPr>
          <a:xfrm>
            <a:off x="4343400" y="3977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E33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72000" y="4251960"/>
            <a:ext cx="640080" cy="640080"/>
          </a:xfrm>
          <a:prstGeom prst="ellipse">
            <a:avLst/>
          </a:prstGeom>
          <a:solidFill>
            <a:srgbClr val="FFF1E8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6018" y="4395978"/>
            <a:ext cx="352044" cy="3520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2000" y="49834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Scoring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72000" y="533095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all signals into one live, continuous risk score.</a:t>
            </a:r>
            <a:endParaRPr lang="en-US" sz="1080" dirty="0"/>
          </a:p>
        </p:txBody>
      </p:sp>
      <p:sp>
        <p:nvSpPr>
          <p:cNvPr id="29" name="Shape 22"/>
          <p:cNvSpPr/>
          <p:nvPr/>
        </p:nvSpPr>
        <p:spPr>
          <a:xfrm>
            <a:off x="8138160" y="3977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E33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66760" y="4251960"/>
            <a:ext cx="640080" cy="640080"/>
          </a:xfrm>
          <a:prstGeom prst="ellipse">
            <a:avLst/>
          </a:prstGeom>
          <a:solidFill>
            <a:srgbClr val="FFF1E8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10778" y="4395978"/>
            <a:ext cx="352044" cy="35204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66760" y="49834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Audio Alerts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66760" y="533095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audible alarm when risk crosses a safe threshold.</a:t>
            </a:r>
            <a:endParaRPr lang="en-US" sz="108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INTERFACE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44068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3200" dirty="0"/>
          </a:p>
        </p:txBody>
      </p:sp>
      <p:sp>
        <p:nvSpPr>
          <p:cNvPr id="46" name="Text 3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47" name="Text 40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889737C1-7D63-CFFE-29DD-0E82BD2CF3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165" y="1252728"/>
            <a:ext cx="10150220" cy="535838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30632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3200" dirty="0"/>
          </a:p>
        </p:txBody>
      </p:sp>
      <p:sp>
        <p:nvSpPr>
          <p:cNvPr id="23" name="Text 19"/>
          <p:cNvSpPr/>
          <p:nvPr/>
        </p:nvSpPr>
        <p:spPr>
          <a:xfrm>
            <a:off x="7680960" y="367588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Numbers Show</a:t>
            </a:r>
            <a:endParaRPr lang="en-US" sz="1450" dirty="0"/>
          </a:p>
        </p:txBody>
      </p:sp>
      <p:sp>
        <p:nvSpPr>
          <p:cNvPr id="25" name="Text 21"/>
          <p:cNvSpPr/>
          <p:nvPr/>
        </p:nvSpPr>
        <p:spPr>
          <a:xfrm>
            <a:off x="121672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82652CE5-DEA9-66E5-E6B5-CB580C920C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763" y="1252056"/>
            <a:ext cx="10568473" cy="557918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with Existing Solutions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3950208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Processing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&amp; Customizable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Privacy-First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Tesla Cabin Camera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Bundled / 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Mobileye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(OEM)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Seeing Machines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(Enterprise)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 Eye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(Enterprise)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DriveSafe AI (Ours)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/ Open-Source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OVERCAME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Solutions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E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56232"/>
            <a:ext cx="548640" cy="548640"/>
          </a:xfrm>
          <a:prstGeom prst="ellipse">
            <a:avLst/>
          </a:prstGeom>
          <a:solidFill>
            <a:srgbClr val="FFF1E8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" y="1979676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19656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 Calibration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846320" y="1819656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303520" y="1819656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baseline calibration in the first few seconds of a session.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48640" y="2679192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E33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77240" y="2843784"/>
            <a:ext cx="548640" cy="548640"/>
          </a:xfrm>
          <a:prstGeom prst="ellipse">
            <a:avLst/>
          </a:prstGeom>
          <a:solidFill>
            <a:srgbClr val="FFF1E8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" y="2967228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08760" y="280720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False Positives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846320" y="2807208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5303520" y="2807208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Smoothing risk scores over a rolling window instead of single-frame triggers.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48640" y="3666744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E33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77240" y="3831336"/>
            <a:ext cx="548640" cy="548640"/>
          </a:xfrm>
          <a:prstGeom prst="ellipse">
            <a:avLst/>
          </a:prstGeom>
          <a:solidFill>
            <a:srgbClr val="FFF1E8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684" y="3954780"/>
            <a:ext cx="301752" cy="30175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08760" y="37947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UI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4846320" y="379476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5303520" y="3794760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Iterated on Streamlit layout with real user feedback for clarity at a glance.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548640" y="4654296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E33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77240" y="4818888"/>
            <a:ext cx="548640" cy="548640"/>
          </a:xfrm>
          <a:prstGeom prst="ellipse">
            <a:avLst/>
          </a:prstGeom>
          <a:solidFill>
            <a:srgbClr val="FFF1E8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684" y="4942332"/>
            <a:ext cx="301752" cy="30175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508760" y="478231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Alarm Triggering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4846320" y="4782312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5303520" y="4782312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threshold + debounce logic to alert promptly without being intrusive.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548640" y="5641848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E33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77240" y="5806440"/>
            <a:ext cx="548640" cy="548640"/>
          </a:xfrm>
          <a:prstGeom prst="ellipse">
            <a:avLst/>
          </a:prstGeom>
          <a:solidFill>
            <a:srgbClr val="FFF1E8"/>
          </a:solidFill>
          <a:ln/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0684" y="5929884"/>
            <a:ext cx="301752" cy="30175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508760" y="5769864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Optimization</a:t>
            </a:r>
            <a:endParaRPr lang="en-US" sz="1350" dirty="0"/>
          </a:p>
        </p:txBody>
      </p:sp>
      <p:sp>
        <p:nvSpPr>
          <p:cNvPr id="32" name="Text 25"/>
          <p:cNvSpPr/>
          <p:nvPr/>
        </p:nvSpPr>
        <p:spPr>
          <a:xfrm>
            <a:off x="4846320" y="5769864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33" name="Text 26"/>
          <p:cNvSpPr/>
          <p:nvPr/>
        </p:nvSpPr>
        <p:spPr>
          <a:xfrm>
            <a:off x="5303520" y="5769864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frame resolution &amp; optimized landmark pipeline for real-time FPS.</a:t>
            </a:r>
            <a:endParaRPr lang="en-US" sz="1150" dirty="0"/>
          </a:p>
        </p:txBody>
      </p:sp>
      <p:sp>
        <p:nvSpPr>
          <p:cNvPr id="34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E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11680"/>
            <a:ext cx="640080" cy="640080"/>
          </a:xfrm>
          <a:prstGeom prst="ellipse">
            <a:avLst/>
          </a:prstGeom>
          <a:solidFill>
            <a:srgbClr val="E9F2F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258" y="2155698"/>
            <a:ext cx="352044" cy="3520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7432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Raspberry Pi / NVIDIA Jetson Deployment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321868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the full pipeline to run natively on low-power embedded hardware in-vehicle.</a:t>
            </a:r>
            <a:endParaRPr lang="en-US" sz="1030" dirty="0"/>
          </a:p>
        </p:txBody>
      </p:sp>
      <p:sp>
        <p:nvSpPr>
          <p:cNvPr id="9" name="Shape 6"/>
          <p:cNvSpPr/>
          <p:nvPr/>
        </p:nvSpPr>
        <p:spPr>
          <a:xfrm>
            <a:off x="4343400" y="17373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E33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0" y="2011680"/>
            <a:ext cx="640080" cy="640080"/>
          </a:xfrm>
          <a:prstGeom prst="ellipse">
            <a:avLst/>
          </a:prstGeom>
          <a:solidFill>
            <a:srgbClr val="E9F2F6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6018" y="2155698"/>
            <a:ext cx="352044" cy="3520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27432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Application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72000" y="321868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app for trip summaries, alerts history, and driver wellness scores.</a:t>
            </a:r>
            <a:endParaRPr lang="en-US" sz="1030" dirty="0"/>
          </a:p>
        </p:txBody>
      </p:sp>
      <p:sp>
        <p:nvSpPr>
          <p:cNvPr id="14" name="Shape 10"/>
          <p:cNvSpPr/>
          <p:nvPr/>
        </p:nvSpPr>
        <p:spPr>
          <a:xfrm>
            <a:off x="8138160" y="17373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E33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66760" y="2011680"/>
            <a:ext cx="640080" cy="640080"/>
          </a:xfrm>
          <a:prstGeom prst="ellipse">
            <a:avLst/>
          </a:prstGeom>
          <a:solidFill>
            <a:srgbClr val="E9F2F6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0778" y="2155698"/>
            <a:ext cx="352044" cy="3520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66760" y="27432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Analytics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366760" y="321868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Optional, opt-in aggregated fleet analytics for logistics &amp; fleet operators.</a:t>
            </a:r>
            <a:endParaRPr lang="en-US" sz="1030" dirty="0"/>
          </a:p>
        </p:txBody>
      </p:sp>
      <p:sp>
        <p:nvSpPr>
          <p:cNvPr id="19" name="Shape 14"/>
          <p:cNvSpPr/>
          <p:nvPr/>
        </p:nvSpPr>
        <p:spPr>
          <a:xfrm>
            <a:off x="548640" y="3977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E33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4251960"/>
            <a:ext cx="640080" cy="640080"/>
          </a:xfrm>
          <a:prstGeom prst="ellipse">
            <a:avLst/>
          </a:prstGeom>
          <a:solidFill>
            <a:srgbClr val="E9F2F6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1258" y="4395978"/>
            <a:ext cx="352044" cy="3520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49834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Driver Identification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77240" y="545896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 thresholds and history per recognized driver profile.</a:t>
            </a:r>
            <a:endParaRPr lang="en-US" sz="1030" dirty="0"/>
          </a:p>
        </p:txBody>
      </p:sp>
      <p:sp>
        <p:nvSpPr>
          <p:cNvPr id="24" name="Shape 18"/>
          <p:cNvSpPr/>
          <p:nvPr/>
        </p:nvSpPr>
        <p:spPr>
          <a:xfrm>
            <a:off x="4343400" y="3977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E33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72000" y="4251960"/>
            <a:ext cx="640080" cy="640080"/>
          </a:xfrm>
          <a:prstGeom prst="ellipse">
            <a:avLst/>
          </a:prstGeom>
          <a:solidFill>
            <a:srgbClr val="E9F2F6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6018" y="4395978"/>
            <a:ext cx="352044" cy="3520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2000" y="49834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ADAS Integration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572000" y="545896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risk signals into broader ADAS systems for coordinated safety response.</a:t>
            </a:r>
            <a:endParaRPr lang="en-US" sz="1030" dirty="0"/>
          </a:p>
        </p:txBody>
      </p:sp>
      <p:sp>
        <p:nvSpPr>
          <p:cNvPr id="29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840480"/>
            <a:ext cx="5486400" cy="5486400"/>
          </a:xfrm>
          <a:prstGeom prst="ellipse">
            <a:avLst/>
          </a:prstGeom>
          <a:solidFill>
            <a:srgbClr val="132C48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1371600"/>
            <a:ext cx="3657600" cy="3657600"/>
          </a:xfrm>
          <a:prstGeom prst="ellipse">
            <a:avLst/>
          </a:prstGeom>
          <a:solidFill>
            <a:srgbClr val="1C7293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652082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Demo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237" y="1896237"/>
            <a:ext cx="276606" cy="27660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8105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FE3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Achievements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280160" y="219456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C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real-time driver monitoring pipeline, built and tested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C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detection accuracy with sub-200ms alert latency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C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on-device processing — zero cloud dependency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37947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237" y="3907917"/>
            <a:ext cx="276606" cy="27660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80160" y="38221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FE3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280160" y="4187952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C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accidents through early, actionable warnings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C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 and deployable on low-cost edge hardware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C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Respects driver privacy by design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040880" y="1783080"/>
            <a:ext cx="4572000" cy="3977640"/>
          </a:xfrm>
          <a:prstGeom prst="roundRect">
            <a:avLst>
              <a:gd name="adj" fmla="val 1839"/>
            </a:avLst>
          </a:prstGeom>
          <a:solidFill>
            <a:srgbClr val="112A44"/>
          </a:solidFill>
          <a:ln/>
          <a:effectLst>
            <a:outerShdw blurRad="101600" dist="38100" dir="5400000" algn="bl" rotWithShape="0">
              <a:srgbClr val="0B1E33">
                <a:alpha val="12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858000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GOOGLE DRIVE LINK</a:t>
            </a:r>
          </a:p>
        </p:txBody>
      </p:sp>
      <p:sp>
        <p:nvSpPr>
          <p:cNvPr id="44" name="Text 40"/>
          <p:cNvSpPr/>
          <p:nvPr/>
        </p:nvSpPr>
        <p:spPr>
          <a:xfrm>
            <a:off x="7223760" y="4113467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50" i="1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https://drive.google.com/drive/folders/13ZByF93JR8-ciSYir-rQRwH7qe9-PqPb?usp=sharing</a:t>
            </a:r>
            <a:endParaRPr lang="en-US" sz="950" dirty="0"/>
          </a:p>
        </p:txBody>
      </p:sp>
      <p:sp>
        <p:nvSpPr>
          <p:cNvPr id="46" name="Text 42"/>
          <p:cNvSpPr/>
          <p:nvPr/>
        </p:nvSpPr>
        <p:spPr>
          <a:xfrm>
            <a:off x="594360" y="5989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47" name="Text 4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DEMO</a:t>
            </a:r>
            <a:endParaRPr lang="en-US" sz="900" dirty="0"/>
          </a:p>
        </p:txBody>
      </p:sp>
      <p:sp>
        <p:nvSpPr>
          <p:cNvPr id="48" name="Text 44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1039</Words>
  <Application>Microsoft Office PowerPoint</Application>
  <PresentationFormat>Widescreen</PresentationFormat>
  <Paragraphs>221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DriveSafe AI</dc:title>
  <dc:subject>PptxGenJS Presentation</dc:subject>
  <dc:creator>DriveSafe AI Team</dc:creator>
  <cp:lastModifiedBy>Prasanna Coimbatore</cp:lastModifiedBy>
  <cp:revision>3</cp:revision>
  <dcterms:created xsi:type="dcterms:W3CDTF">2026-07-05T12:46:39Z</dcterms:created>
  <dcterms:modified xsi:type="dcterms:W3CDTF">2026-07-05T13:58:15Z</dcterms:modified>
</cp:coreProperties>
</file>